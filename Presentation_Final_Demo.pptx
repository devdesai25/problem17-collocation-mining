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6BFB8-B3E1-4042-9B71-78E98CE4606F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BAAAC9-0B4D-4698-8304-FC2BBA732C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0434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BAAAC9-0B4D-4698-8304-FC2BBA732C8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16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rPr dirty="0"/>
              <a:t>Final Presentation &amp; Project Defense: Collocation Mining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62179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Project Identification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5760720" cy="24827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Problem Statement: </a:t>
            </a:r>
            <a:r>
              <a:rPr sz="1600" b="0" dirty="0">
                <a:solidFill>
                  <a:srgbClr val="1E293B"/>
                </a:solidFill>
              </a:rPr>
              <a:t>Problem 17 — Collocation Mining and Association Scoring in Voice Memos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Course / Module: </a:t>
            </a:r>
            <a:r>
              <a:rPr sz="1600" b="0" dirty="0">
                <a:solidFill>
                  <a:srgbClr val="1E293B"/>
                </a:solidFill>
              </a:rPr>
              <a:t>MT-AIML, Semester </a:t>
            </a:r>
            <a:r>
              <a:rPr lang="en-IN" sz="1600" b="0" dirty="0">
                <a:solidFill>
                  <a:srgbClr val="1E293B"/>
                </a:solidFill>
              </a:rPr>
              <a:t>7</a:t>
            </a:r>
            <a:r>
              <a:rPr sz="1600" b="0" dirty="0">
                <a:solidFill>
                  <a:srgbClr val="1E293B"/>
                </a:solidFill>
              </a:rPr>
              <a:t>(Honors AIML) </a:t>
            </a:r>
            <a:endParaRPr lang="en-IN" sz="1600" b="0" dirty="0">
              <a:solidFill>
                <a:srgbClr val="1E293B"/>
              </a:solidFill>
            </a:endParaRP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Application Scope: </a:t>
            </a:r>
            <a:r>
              <a:rPr sz="1600" b="0" dirty="0">
                <a:solidFill>
                  <a:srgbClr val="1E293B"/>
                </a:solidFill>
              </a:rPr>
              <a:t>Spoken Dictation &amp; Executive Voice Memos Domain Tagging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Key Technologies: </a:t>
            </a:r>
            <a:r>
              <a:rPr sz="1600" b="0" dirty="0">
                <a:solidFill>
                  <a:srgbClr val="1E293B"/>
                </a:solidFill>
              </a:rPr>
              <a:t>Python 3.12, NumPy, NLTK, SciPy, Matplotlib, Pandas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600" b="1" dirty="0">
                <a:solidFill>
                  <a:srgbClr val="2563EB"/>
                </a:solidFill>
              </a:rPr>
              <a:t>• </a:t>
            </a:r>
            <a:r>
              <a:rPr sz="1600" b="1" dirty="0">
                <a:solidFill>
                  <a:srgbClr val="0F172A"/>
                </a:solidFill>
              </a:rPr>
              <a:t>Date of Submission: </a:t>
            </a:r>
            <a:r>
              <a:rPr sz="1600" b="0" dirty="0">
                <a:solidFill>
                  <a:srgbClr val="1E293B"/>
                </a:solidFill>
              </a:rPr>
              <a:t>7th October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23760" y="1463040"/>
            <a:ext cx="42062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11441" y="1805940"/>
            <a:ext cx="374903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Student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5072" y="2103120"/>
            <a:ext cx="1920240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Candidate:
</a:t>
            </a:r>
            <a:r>
              <a:rPr lang="en-IN" sz="1600" dirty="0">
                <a:solidFill>
                  <a:srgbClr val="2563EB"/>
                </a:solidFill>
              </a:rPr>
              <a:t>Desai Dev Niraj</a:t>
            </a:r>
            <a:endParaRPr sz="1600" dirty="0">
              <a:solidFill>
                <a:srgbClr val="2563EB"/>
              </a:solidFill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Enrollment:
</a:t>
            </a:r>
            <a:r>
              <a:rPr lang="en-IN" sz="1600" dirty="0">
                <a:solidFill>
                  <a:srgbClr val="2563EB"/>
                </a:solidFill>
              </a:rPr>
              <a:t>ET24BTIT811</a:t>
            </a:r>
            <a:endParaRPr sz="1600" dirty="0">
              <a:solidFill>
                <a:srgbClr val="2563EB"/>
              </a:solidFill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Program:
</a:t>
            </a:r>
            <a:r>
              <a:rPr lang="en-IN" sz="1600" b="1" dirty="0">
                <a:solidFill>
                  <a:srgbClr val="2563EB"/>
                </a:solidFill>
              </a:rPr>
              <a:t>I</a:t>
            </a:r>
            <a:r>
              <a:rPr lang="en-IN" sz="1600" dirty="0">
                <a:solidFill>
                  <a:srgbClr val="2563EB"/>
                </a:solidFill>
              </a:rPr>
              <a:t>nformation Technology</a:t>
            </a:r>
            <a:endParaRPr sz="1600" dirty="0">
              <a:solidFill>
                <a:srgbClr val="2563EB"/>
              </a:solidFill>
            </a:endParaRPr>
          </a:p>
          <a:p>
            <a:pPr>
              <a:spcAft>
                <a:spcPts val="400"/>
              </a:spcAft>
            </a:pPr>
            <a:r>
              <a:rPr sz="1600" b="1" dirty="0">
                <a:solidFill>
                  <a:srgbClr val="0F172A"/>
                </a:solidFill>
              </a:rPr>
              <a:t>Semester:
</a:t>
            </a:r>
            <a:r>
              <a:rPr sz="1600" dirty="0">
                <a:solidFill>
                  <a:srgbClr val="2563EB"/>
                </a:solidFill>
              </a:rPr>
              <a:t>Semester </a:t>
            </a:r>
            <a:r>
              <a:rPr lang="en-IN" sz="1600" dirty="0">
                <a:solidFill>
                  <a:srgbClr val="2563EB"/>
                </a:solidFill>
              </a:rPr>
              <a:t>7</a:t>
            </a:r>
            <a:endParaRPr sz="1600" dirty="0">
              <a:solidFill>
                <a:srgbClr val="2563EB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2: PROBLEM DEFINITION &amp; OBJECTIVES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Mining Domain Collocations from Spoken Executive Transcripts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Executive Voice Memo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Operational Context: </a:t>
            </a:r>
            <a:r>
              <a:rPr sz="1300" b="0">
                <a:solidFill>
                  <a:srgbClr val="1E293B"/>
                </a:solidFill>
              </a:rPr>
              <a:t>Executive voice memos and municipal audio dictations contain strategic domain terms ('budget amendment', 'city council', 'affordable housing').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Loss of Multi-Word Semantics: </a:t>
            </a:r>
            <a:r>
              <a:rPr sz="1300" b="0">
                <a:solidFill>
                  <a:srgbClr val="1E293B"/>
                </a:solidFill>
              </a:rPr>
              <a:t>Standard unigram indexing fragments composite concepts. Multi-word collocations are non-compositional lexical units essential for automated indexing.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Acoustic &amp; Conversational Noise: </a:t>
            </a:r>
            <a:r>
              <a:rPr sz="1300" b="0">
                <a:solidFill>
                  <a:srgbClr val="1E293B"/>
                </a:solidFill>
              </a:rPr>
              <a:t>Spoken transcripts feature acoustic ASR transcription errors, disfluencies ('mm hmm', 'you know'), and non-standard syntax.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Core Technical Mission: </a:t>
            </a:r>
            <a:r>
              <a:rPr sz="1300" b="0">
                <a:solidFill>
                  <a:srgbClr val="1E293B"/>
                </a:solidFill>
              </a:rPr>
              <a:t>Construct an automated collocation engine that extracts meaningful domain keyphrases while suppressing random co-occurrences and conversational filler.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Why Statistical Association?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Failure of Raw Frequency: </a:t>
            </a:r>
            <a:r>
              <a:rPr sz="1300" b="0">
                <a:solidFill>
                  <a:srgbClr val="1E293B"/>
                </a:solidFill>
              </a:rPr>
              <a:t>High-frequency pairs are dominated by grammatical noise ('of the', 'in the'). Frequency alone is incapable of domain extraction.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Quantifying Cohesion: </a:t>
            </a:r>
            <a:r>
              <a:rPr sz="1300" b="0">
                <a:solidFill>
                  <a:srgbClr val="1E293B"/>
                </a:solidFill>
              </a:rPr>
              <a:t>Statistical association compares joint occurrence against the null hypothesis of statistical independence.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Rigorous 2x2 Contingency: </a:t>
            </a:r>
            <a:r>
              <a:rPr sz="1300" b="0">
                <a:solidFill>
                  <a:srgbClr val="1E293B"/>
                </a:solidFill>
              </a:rPr>
              <a:t>Each bigram is framed within a complete 4-cell contingency table summing to sentence-internal token count 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Comparative Goal: </a:t>
            </a:r>
            <a:r>
              <a:rPr sz="1300" b="0">
                <a:solidFill>
                  <a:srgbClr val="1E293B"/>
                </a:solidFill>
              </a:rPr>
              <a:t>Implement and benchmark Pointwise Mutual Information (PMI), Pearson χ², Student's t-test, and Dunning's Likelihood Ratio G².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3: MATHEMATICAL FORMULATIONS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First-Principles Formulation of Statistical Association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Pointwise Mutual Information (PMI)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Definition: </a:t>
            </a:r>
            <a:r>
              <a:rPr sz="1300" b="0">
                <a:solidFill>
                  <a:srgbClr val="1E293B"/>
                </a:solidFill>
              </a:rPr>
              <a:t>PMI(w1, w2) = log2( P(w1, w2) / (P(w1) * P(w2)) ) = log2( (O11 * N) / (R1 * C1) 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Characteristics: </a:t>
            </a:r>
            <a:r>
              <a:rPr sz="1300" b="0">
                <a:solidFill>
                  <a:srgbClr val="1E293B"/>
                </a:solidFill>
              </a:rPr>
              <a:t>Measures information gain. Normalized PMI: NPMI = PMI / (-log2 P(w1, w2)). Sensitive to rare exclusive pairs.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Pearson's &amp; Yates' Chi-Square (χ²)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Definition: </a:t>
            </a:r>
            <a:r>
              <a:rPr sz="1300" b="0">
                <a:solidFill>
                  <a:srgbClr val="1E293B"/>
                </a:solidFill>
              </a:rPr>
              <a:t>χ² = N * (O11*O22 - O12*O21)² / (R1 * C1 * R2 * C2)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Characteristics: </a:t>
            </a:r>
            <a:r>
              <a:rPr sz="1300" b="0">
                <a:solidFill>
                  <a:srgbClr val="1E293B"/>
                </a:solidFill>
              </a:rPr>
              <a:t>Non-directional test of dependence. Yates variant subtracts N/2 inside deviation to correct for small sample sizes.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521208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Student's t-test (Manning &amp; Schütze)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6596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Definition: </a:t>
            </a:r>
            <a:r>
              <a:rPr sz="1300" b="0">
                <a:solidFill>
                  <a:srgbClr val="1E293B"/>
                </a:solidFill>
              </a:rPr>
              <a:t>t = ( O11 - (R1 * C1 / N) ) / sqrt( O11 )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Characteristics: </a:t>
            </a:r>
            <a:r>
              <a:rPr sz="1300" b="0">
                <a:solidFill>
                  <a:srgbClr val="1E293B"/>
                </a:solidFill>
              </a:rPr>
              <a:t>Collocation one-sample t-statistic under Poisson variance-equals-mean assumption. Strongly rewards high raw counts.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840480"/>
            <a:ext cx="52120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402336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Log-Likelihood Ratio (Dunning G²)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343400"/>
            <a:ext cx="4754880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Definition: </a:t>
            </a:r>
            <a:r>
              <a:rPr sz="1300" b="0">
                <a:solidFill>
                  <a:srgbClr val="1E293B"/>
                </a:solidFill>
              </a:rPr>
              <a:t>G² = 2 * Σ [ Oij * ln( Oij / Eij ) ] where Eij = (Row_i * Col_j) / 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Characteristics: </a:t>
            </a:r>
            <a:r>
              <a:rPr sz="1300" b="0">
                <a:solidFill>
                  <a:srgbClr val="1E293B"/>
                </a:solidFill>
              </a:rPr>
              <a:t>Asymptotically χ² distributed (1 df). Substantially better calibrated for sparse NLP counts and skewed distributions.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4: SPOKEN LANGUAGE CHALLENGES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Acoustic Disfluencies, Stopwords &amp; Normalization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4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The Stopword Retention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Syntactic Integrity: </a:t>
            </a:r>
            <a:r>
              <a:rPr sz="1300" b="0">
                <a:solidFill>
                  <a:srgbClr val="1E293B"/>
                </a:solidFill>
              </a:rPr>
              <a:t>Ablation confirms removing stopwords irrevocably destroys procedural terms: 'in terms of', 'motion to approve', 'point of order'.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Marginal Preservation: </a:t>
            </a:r>
            <a:r>
              <a:rPr sz="1300" b="0">
                <a:solidFill>
                  <a:srgbClr val="1E293B"/>
                </a:solidFill>
              </a:rPr>
              <a:t>Keeping stopwords preserves correct probability denominators and co-occurrence distributions.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Natural Discrimination: </a:t>
            </a:r>
            <a:r>
              <a:rPr sz="1300" b="0">
                <a:solidFill>
                  <a:srgbClr val="1E293B"/>
                </a:solidFill>
              </a:rPr>
              <a:t>Properly tuned association measures (PMI, G²) naturally down-weight function words without crude stopword deletion.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Documented Trade-Off: </a:t>
            </a:r>
            <a:r>
              <a:rPr sz="1300" b="0">
                <a:solidFill>
                  <a:srgbClr val="1E293B"/>
                </a:solidFill>
              </a:rPr>
              <a:t>The primary token stream retains stopwords; an ablation pipeline measures gold recall penalty.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Speech Preprocessing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Clitic Normalization: </a:t>
            </a:r>
            <a:r>
              <a:rPr sz="1300" b="0">
                <a:solidFill>
                  <a:srgbClr val="1E293B"/>
                </a:solidFill>
              </a:rPr>
              <a:t>Systematic expansion of spoken clitics: 'n't' -&gt; 'not', ''re' -&gt; 'are', ''ve' -&gt; 'have', ''ll' -&gt; 'will'.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POS-Aware Lemmatization: </a:t>
            </a:r>
            <a:r>
              <a:rPr sz="1300" b="0">
                <a:solidFill>
                  <a:srgbClr val="1E293B"/>
                </a:solidFill>
              </a:rPr>
              <a:t>Averaged Perceptron POS Tagger mapped to WordNet nouns, verbs, adjectives, and adverbs to collapse inflections.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Noise &amp; Ordinal Filtering: </a:t>
            </a:r>
            <a:r>
              <a:rPr sz="1300" b="0">
                <a:solidFill>
                  <a:srgbClr val="1E293B"/>
                </a:solidFill>
              </a:rPr>
              <a:t>Purging isolated numerals, agenda ordinals ('15th'), and conversational transcription tags.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Strict Boundary Guard: </a:t>
            </a:r>
            <a:r>
              <a:rPr sz="1300" b="0">
                <a:solidFill>
                  <a:srgbClr val="1E293B"/>
                </a:solidFill>
              </a:rPr>
              <a:t>Sentence-internal windowing ensures n-grams never concatenate tokens across conversational turns or pauses.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5: SCOPE &amp; METHODOLOGY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Corpus Provenance, Implementation Scope &amp; Evaluation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5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Corpus Provenance &amp; 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Benchmark Corpus: </a:t>
            </a:r>
            <a:r>
              <a:rPr sz="1300" b="0">
                <a:solidFill>
                  <a:srgbClr val="1E293B"/>
                </a:solidFill>
              </a:rPr>
              <a:t>MeetingBank (Hu et al., ACL 2023) municipal transcripts, representing real spoken committee deliberations.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Corpus Statistics: </a:t>
            </a:r>
            <a:r>
              <a:rPr sz="1300" b="0">
                <a:solidFill>
                  <a:srgbClr val="1E293B"/>
                </a:solidFill>
              </a:rPr>
              <a:t>28 balanced agenda segments across 6 cities; 66,924 raw tokens; 67,046 lemmatized tokens; 1,772 sentences.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Gold Standard Ground Truth: </a:t>
            </a:r>
            <a:r>
              <a:rPr sz="1300" b="0">
                <a:solidFill>
                  <a:srgbClr val="1E293B"/>
                </a:solidFill>
              </a:rPr>
              <a:t>144 curated gold phrases (104 bigrams, 40 trigrams) categorized into business, project, meeting, and technical.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Traceability: </a:t>
            </a:r>
            <a:r>
              <a:rPr sz="1300" b="0">
                <a:solidFill>
                  <a:srgbClr val="1E293B"/>
                </a:solidFill>
              </a:rPr>
              <a:t>Complete SHA-256 provenance manifest and documented licensing in `data/raw_transcripts/PROVENANCE.md`.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Technical Scope &amp;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Scratch Formulations: </a:t>
            </a:r>
            <a:r>
              <a:rPr sz="1300" b="0">
                <a:solidFill>
                  <a:srgbClr val="1E293B"/>
                </a:solidFill>
              </a:rPr>
              <a:t>All mathematical formulas implemented from raw Python/NumPy logic without third-party scoring shortcuts.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Verification Baseline: </a:t>
            </a:r>
            <a:r>
              <a:rPr sz="1300" b="0">
                <a:solidFill>
                  <a:srgbClr val="1E293B"/>
                </a:solidFill>
              </a:rPr>
              <a:t>Full parity audit against NLTK (`BigramCollocationFinder`) and SciPy (`chi2_contingency`).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Dual N-Gram Support: </a:t>
            </a:r>
            <a:r>
              <a:rPr sz="1300" b="0">
                <a:solidFill>
                  <a:srgbClr val="1E293B"/>
                </a:solidFill>
              </a:rPr>
              <a:t>Unified handling of Bigram (2-word) and Trigram (3-word) collocation associations.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Evaluation Protocol: </a:t>
            </a:r>
            <a:r>
              <a:rPr sz="1300" b="0">
                <a:solidFill>
                  <a:srgbClr val="1E293B"/>
                </a:solidFill>
              </a:rPr>
              <a:t>Empirical measurement of Precision@k, Recall@k, F1@k (k ∈ {10,20,30,40,50}), and Spearman rank correlations.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6: LITERATURE &amp; EXISTING SOLUTIONS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Academic Benchmarks &amp; Comparative Paradigm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6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Seminal Theoretical Foundations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Church &amp; Hanks (1990): </a:t>
            </a:r>
            <a:r>
              <a:rPr sz="1300" b="0">
                <a:solidFill>
                  <a:srgbClr val="1E293B"/>
                </a:solidFill>
              </a:rPr>
              <a:t>Established Word Association Norms using Mutual Information; demonstrated lexical attraction in text corpora.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Dunning (1993): </a:t>
            </a:r>
            <a:r>
              <a:rPr sz="1300" b="0">
                <a:solidFill>
                  <a:srgbClr val="1E293B"/>
                </a:solidFill>
              </a:rPr>
              <a:t>Proved Pearson χ² fails on low counts; established Log-Likelihood Ratio as the gold standard for sparse text.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Manning &amp; Schütze (1999): </a:t>
            </a:r>
            <a:r>
              <a:rPr sz="1300" b="0">
                <a:solidFill>
                  <a:srgbClr val="1E293B"/>
                </a:solidFill>
              </a:rPr>
              <a:t>'Foundations of Statistical NLP' formalized hypothesis testing methods for collocations (Chapter 5).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Hu et al. (ACL 2023): </a:t>
            </a:r>
            <a:r>
              <a:rPr sz="1300" b="0">
                <a:solidFill>
                  <a:srgbClr val="1E293B"/>
                </a:solidFill>
              </a:rPr>
              <a:t>MeetingBank: benchmark for spoken meeting transcripts capturing authentic clerk dictation.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Paradigm Comparison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PMI Bias: </a:t>
            </a:r>
            <a:r>
              <a:rPr sz="1300" b="0">
                <a:solidFill>
                  <a:srgbClr val="1E293B"/>
                </a:solidFill>
              </a:rPr>
              <a:t>Favors rare, low-frequency pairs where words occur exclusively together. Suffers from hapax legomena saturation.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Chi-Square (χ²): </a:t>
            </a:r>
            <a:r>
              <a:rPr sz="1300" b="0">
                <a:solidFill>
                  <a:srgbClr val="1E293B"/>
                </a:solidFill>
              </a:rPr>
              <a:t>Non-directional. Saturates at total corpus N for perfectly exclusive pairs regardless of frequency.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Student's t-test: </a:t>
            </a:r>
            <a:r>
              <a:rPr sz="1300" b="0">
                <a:solidFill>
                  <a:srgbClr val="1E293B"/>
                </a:solidFill>
              </a:rPr>
              <a:t>Frequency-biased. High-volume conversational filler ('thank you', 'of the') easily dominates genuine domain terms.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Likelihood Ratio (G²): </a:t>
            </a:r>
            <a:r>
              <a:rPr sz="1300" b="0">
                <a:solidFill>
                  <a:srgbClr val="1E293B"/>
                </a:solidFill>
              </a:rPr>
              <a:t>Most robust balance. Effectively handles low contingency cells while surfacing high-frequency domain titles.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7: SYSTEM ARCHITECTURE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End-to-End Processing, Scoring &amp; Evaluation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7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Architectural Pipeline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Input Stage: </a:t>
            </a:r>
            <a:r>
              <a:rPr sz="1300" b="0">
                <a:solidFill>
                  <a:srgbClr val="1E293B"/>
                </a:solidFill>
              </a:rPr>
              <a:t>Ingests raw speech dictations from `data/raw_transcripts/` or live text input.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Preprocessing Module: </a:t>
            </a:r>
            <a:r>
              <a:rPr sz="1300" b="0">
                <a:solidFill>
                  <a:srgbClr val="1E293B"/>
                </a:solidFill>
              </a:rPr>
              <a:t>Executes regex noise removal, clitic expansion, sentence segmentation, and POS-aware lemmatization.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Co-occurrence Builder: </a:t>
            </a:r>
            <a:r>
              <a:rPr sz="1300" b="0">
                <a:solidFill>
                  <a:srgbClr val="1E293B"/>
                </a:solidFill>
              </a:rPr>
              <a:t>Computes sentence-internal joint counts, left/right marginals, and 2x2 contingency matrices.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Scoring Core: </a:t>
            </a:r>
            <a:r>
              <a:rPr sz="1300" b="0">
                <a:solidFill>
                  <a:srgbClr val="1E293B"/>
                </a:solidFill>
              </a:rPr>
              <a:t>Calculates statistical association metrics across all candidate n-grams meeting minimum frequency f ≥ k.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Evaluation &amp; Reporting: </a:t>
            </a:r>
            <a:r>
              <a:rPr sz="1300" b="0">
                <a:solidFill>
                  <a:srgbClr val="1E293B"/>
                </a:solidFill>
              </a:rPr>
              <a:t>Generates CSV ranking tables, Spearman correlation heatmaps, Precision@k curves, and PDF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Pipeline Flowchart Diagram</a:t>
            </a:r>
          </a:p>
        </p:txBody>
      </p:sp>
      <p:pic>
        <p:nvPicPr>
          <p:cNvPr id="12" name="Picture 11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4846320" cy="31154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8: IMPLEMENTATION DESIGN &amp; VERIFICATION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Software Architecture, Hand Calculations &amp; Verification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8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Modular Software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`src/preprocessing.py`: </a:t>
            </a:r>
            <a:r>
              <a:rPr sz="1300" b="0">
                <a:solidFill>
                  <a:srgbClr val="1E293B"/>
                </a:solidFill>
              </a:rPr>
              <a:t>Implements text cleaning, clitic mapping, sentence segmentation, and WordNet POS lemmatization.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`src/models.py`: </a:t>
            </a:r>
            <a:r>
              <a:rPr sz="1300" b="0">
                <a:solidFill>
                  <a:srgbClr val="1E293B"/>
                </a:solidFill>
              </a:rPr>
              <a:t>Pure Python/NumPy formulations of 8 association metrics (PMI, NPMI, Pearson χ², Yates χ², Student's t, G²).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`src/pipeline.py`: </a:t>
            </a:r>
            <a:r>
              <a:rPr sz="1300" b="0">
                <a:solidFill>
                  <a:srgbClr val="1E293B"/>
                </a:solidFill>
              </a:rPr>
              <a:t>Execution orchestrator coordinating N-gram generation, contingency tables, ranking, and report compilation.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`tests/test_metrics.py`: </a:t>
            </a:r>
            <a:r>
              <a:rPr sz="1300" b="0">
                <a:solidFill>
                  <a:srgbClr val="1E293B"/>
                </a:solidFill>
              </a:rPr>
              <a:t>Regression test suite verifying scratch calculations against hand-calculated analytical oracle tables.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`reports/` Data Artifacts: </a:t>
            </a:r>
            <a:r>
              <a:rPr sz="1300" b="0">
                <a:solidFill>
                  <a:srgbClr val="1E293B"/>
                </a:solidFill>
              </a:rPr>
              <a:t>Automated output generation: 25+ CSV rankings, Spearman matrices, and JSON summary statistics.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Contingency Table &amp; Worked Example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Reference Bigram: </a:t>
            </a:r>
            <a:r>
              <a:rPr sz="1300" b="0">
                <a:solidFill>
                  <a:srgbClr val="1E293B"/>
                </a:solidFill>
              </a:rPr>
              <a:t>Analyzed 'city council' from municipal transcripts (sentence-internal N=4 bigram tokens).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Observed 2x2 Cells: </a:t>
            </a:r>
            <a:r>
              <a:rPr sz="1300" b="0">
                <a:solidFill>
                  <a:srgbClr val="1E293B"/>
                </a:solidFill>
              </a:rPr>
              <a:t>O11=2, O12=0, O21=0, O22=2 with marginals R1=2, C1=2, R2=2, C2=2.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Expected Values (Eij): </a:t>
            </a:r>
            <a:r>
              <a:rPr sz="1300" b="0">
                <a:solidFill>
                  <a:srgbClr val="1E293B"/>
                </a:solidFill>
              </a:rPr>
              <a:t>Under null hypothesis of independence: E11 = E12 = E21 = E22 = 1.000.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Exact Score Derivations: </a:t>
            </a:r>
            <a:r>
              <a:rPr sz="1300" b="0">
                <a:solidFill>
                  <a:srgbClr val="1E293B"/>
                </a:solidFill>
              </a:rPr>
              <a:t>PMI = 1.000 | Pearson χ² = 4.000 | Yates χ² = 1.000 | Student's t = 0.7071 | Likelihood Ratio G² = 5.5452.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NLTK Parity Audit: </a:t>
            </a:r>
            <a:r>
              <a:rPr sz="1300" b="0">
                <a:solidFill>
                  <a:srgbClr val="1E293B"/>
                </a:solidFill>
              </a:rPr>
              <a:t>Bitwise verification against NLTK reference implementations confirms Δ = 0.000 across all metrics.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9: EMPIRICAL BENCHMARKS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Quantitative Evaluation &amp; Rank Correlation Across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9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Precision@20 Benchmark on MeetingBank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Chi-Square (χ²): </a:t>
            </a:r>
            <a:r>
              <a:rPr sz="1300" b="0">
                <a:solidFill>
                  <a:srgbClr val="1E293B"/>
                </a:solidFill>
              </a:rPr>
              <a:t>Precision@20: 95.0% (19/20 hits) | Mean Freq: 6.8 | Captures near-exclusive domain names.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Yates-Corrected χ²: </a:t>
            </a:r>
            <a:r>
              <a:rPr sz="1300" b="0">
                <a:solidFill>
                  <a:srgbClr val="1E293B"/>
                </a:solidFill>
              </a:rPr>
              <a:t>Precision@20: 90.0% (18/20 hits) | Demotes low-frequency hapaxes via continuity subtraction.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Pointwise Mutual Inf (PMI): </a:t>
            </a:r>
            <a:r>
              <a:rPr sz="1300" b="0">
                <a:solidFill>
                  <a:srgbClr val="1E293B"/>
                </a:solidFill>
              </a:rPr>
              <a:t>Precision@20: 85.0% (17/20 hits) | Top phrases: 'boot camp', 'coffee shop', 'dry ice'.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Likelihood Ratio (G²): </a:t>
            </a:r>
            <a:r>
              <a:rPr sz="1300" b="0">
                <a:solidFill>
                  <a:srgbClr val="1E293B"/>
                </a:solidFill>
              </a:rPr>
              <a:t>Precision@20: 15.0% (3/20 hits) | Mean Freq: 86.8 | Surfaces 'council member', 'long beach'.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Student's t-test: </a:t>
            </a:r>
            <a:r>
              <a:rPr sz="1300" b="0">
                <a:solidFill>
                  <a:srgbClr val="1E293B"/>
                </a:solidFill>
              </a:rPr>
              <a:t>Precision@20: 0.0% (0/20 hits) | Mean Freq: 198.8 | Heavily biased toward conversational filler ('thank you', 'of the').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Precision@k Performance Curves</a:t>
            </a:r>
          </a:p>
        </p:txBody>
      </p:sp>
      <p:pic>
        <p:nvPicPr>
          <p:cNvPr id="12" name="Picture 11" descr="precision_a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10: QUALITATIVE KEYPHRASE RESULTS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Qualitative Breakdown of Extracted Phrases Across 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10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Extracted Top-20 Keyphrases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High-Quality Domain Terms: </a:t>
            </a:r>
            <a:r>
              <a:rPr sz="1300" b="0">
                <a:solidFill>
                  <a:srgbClr val="1E293B"/>
                </a:solidFill>
              </a:rPr>
              <a:t>PMI and χ² successfully extract: 'council member', 'affordable housing', 'solid waste', 'real estate', 'task force', 'domestic violence', 'dry ice'.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Fixed Procedural Formulas: </a:t>
            </a:r>
            <a:r>
              <a:rPr sz="1300" b="0">
                <a:solidFill>
                  <a:srgbClr val="1E293B"/>
                </a:solidFill>
              </a:rPr>
              <a:t>Identifies essential parliamentary phrases: 'president pro tem', 'motion to', 'those in favor'.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Conversational Filler Intrusion: </a:t>
            </a:r>
            <a:r>
              <a:rPr sz="1300" b="0">
                <a:solidFill>
                  <a:srgbClr val="1E293B"/>
                </a:solidFill>
              </a:rPr>
              <a:t>Student's t and uncalibrated G² pull in high-frequency noise: 'thank you', 'you know', 'want to', 'i think'.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Ablation Contrast: </a:t>
            </a:r>
            <a:r>
              <a:rPr sz="1300" b="0">
                <a:solidFill>
                  <a:srgbClr val="1E293B"/>
                </a:solidFill>
              </a:rPr>
              <a:t>Without a frequency threshold (f ≥ 1), unfiltered PMI degrades into hapax legomena ('abstention iraqi', 'alma mater').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Inter-Metric Spearman Correlation</a:t>
            </a:r>
          </a:p>
        </p:txBody>
      </p:sp>
      <p:pic>
        <p:nvPicPr>
          <p:cNvPr id="12" name="Picture 11" descr="spearma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11680"/>
            <a:ext cx="48463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11: KEY TECHNICAL INSIGHTS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Mathematical Discoveries &amp; Root-Cause Failure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11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Chi-Square Saturation at 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The Ceiling Effect: </a:t>
            </a:r>
            <a:r>
              <a:rPr sz="1300" b="0">
                <a:solidFill>
                  <a:srgbClr val="1E293B"/>
                </a:solidFill>
              </a:rPr>
              <a:t>For perfectly exclusive pairs (O12 = O21 = 0), Pearson's χ² saturates exactly at total corpus count N (61,728), regardless of frequency.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Implication: </a:t>
            </a:r>
            <a:r>
              <a:rPr sz="1300" b="0">
                <a:solidFill>
                  <a:srgbClr val="1E293B"/>
                </a:solidFill>
              </a:rPr>
              <a:t>χ² ranks exclusive frequency-3 pairs equal to exclusive frequency-100 pairs, requiring an explicit frequency floor (f ≥ 3).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Yates Rectification: </a:t>
            </a:r>
            <a:r>
              <a:rPr sz="1300" b="0">
                <a:solidFill>
                  <a:srgbClr val="1E293B"/>
                </a:solidFill>
              </a:rPr>
              <a:t>Subtracting N/2 inside the absolute deviation effectively demotes low-count exclusive accidents.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Student's t Frequency Bias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Poisson Assumption Failure: </a:t>
            </a:r>
            <a:r>
              <a:rPr sz="1300" b="0">
                <a:solidFill>
                  <a:srgbClr val="1E293B"/>
                </a:solidFill>
              </a:rPr>
              <a:t>Student's t denominator sqrt(O11) scales sub-linearly compared to the numerator (O11 - E11).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Grammatical Domination: </a:t>
            </a:r>
            <a:r>
              <a:rPr sz="1300" b="0">
                <a:solidFill>
                  <a:srgbClr val="1E293B"/>
                </a:solidFill>
              </a:rPr>
              <a:t>Massive conversational counts cause filler ('thank you' f=488) to reach t=21.66, completely crowding out genuine terms.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Practical Lesson: </a:t>
            </a:r>
            <a:r>
              <a:rPr sz="1300" b="0">
                <a:solidFill>
                  <a:srgbClr val="1E293B"/>
                </a:solidFill>
              </a:rPr>
              <a:t>Student's t is unsuited for isolated keyphrase discovery; it acts primarily as a high-frequency filter.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12: FUTURE DIRECTIONS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Production Roadmap: Enhancing Voice Memo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lang="en-IN" dirty="0"/>
              <a:t>MT-AIML Sem 7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12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Short-Term Production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Acoustic Confidence Weighting: </a:t>
            </a:r>
            <a:r>
              <a:rPr sz="1300" b="0">
                <a:solidFill>
                  <a:srgbClr val="1E293B"/>
                </a:solidFill>
              </a:rPr>
              <a:t>Weight co-occurrence counts by ASR posterior probabilities (word-level acoustic confidence scores) to suppress hallucinated transcripts.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Ensemble Association Scoring: </a:t>
            </a:r>
            <a:r>
              <a:rPr sz="1300" b="0">
                <a:solidFill>
                  <a:srgbClr val="1E293B"/>
                </a:solidFill>
              </a:rPr>
              <a:t>Construct a weighted rank aggregation blending PMI specificity with Likelihood Ratio robustness.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Syntactic POS Pattern Filtering: </a:t>
            </a:r>
            <a:r>
              <a:rPr sz="1300" b="0">
                <a:solidFill>
                  <a:srgbClr val="1E293B"/>
                </a:solidFill>
              </a:rPr>
              <a:t>Incorporate Part-of-Speech regex filters (e.g., [Adj+Noun], [Noun+Noun]) to eliminate verb-particle filler automatically.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Long-Term Architectural Horizons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Hybrid Neural-Statistical Mining: </a:t>
            </a:r>
            <a:r>
              <a:rPr sz="1300" b="0">
                <a:solidFill>
                  <a:srgbClr val="1E293B"/>
                </a:solidFill>
              </a:rPr>
              <a:t>Combine statistical collocation scores with dense semantic embeddings (Sentence-BERT / Word2Vec) for thematic clustering.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Real-Time Streaming Ingestion: </a:t>
            </a:r>
            <a:r>
              <a:rPr sz="1300" b="0">
                <a:solidFill>
                  <a:srgbClr val="1E293B"/>
                </a:solidFill>
              </a:rPr>
              <a:t>Deploy streaming sliding-window processors for live dictation and real-time meeting captioning.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Domain Taxonomy Induction: </a:t>
            </a:r>
            <a:r>
              <a:rPr sz="1300" b="0">
                <a:solidFill>
                  <a:srgbClr val="1E293B"/>
                </a:solidFill>
              </a:rPr>
              <a:t>Automatically organize extracted collocations into hierarchical organizational knowledge graphs.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SLIDE 13: CONCLUSIONS &amp; PROJECT SUMMARY</a:t>
            </a:r>
          </a:p>
          <a:p>
            <a:pPr>
              <a:spcBef>
                <a:spcPts val="300"/>
              </a:spcBef>
              <a:defRPr sz="2200" b="1">
                <a:solidFill>
                  <a:srgbClr val="1E293B"/>
                </a:solidFill>
              </a:defRPr>
            </a:pPr>
            <a:r>
              <a:t>Executive Project Summary &amp; Submission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2330766" cy="1384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rPr dirty="0"/>
              <a:t>MT-AIML Sem </a:t>
            </a:r>
            <a:r>
              <a:rPr lang="en-IN" dirty="0"/>
              <a:t>7</a:t>
            </a:r>
            <a:r>
              <a:rPr dirty="0"/>
              <a:t> | Problem 17: Collocation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46520"/>
            <a:ext cx="3200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900">
                <a:solidFill>
                  <a:srgbClr val="64748B"/>
                </a:solidFill>
              </a:defRPr>
            </a:pPr>
            <a:r>
              <a:t>13 /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Core Accomplishments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Full Theoretical Coverage: </a:t>
            </a:r>
            <a:r>
              <a:rPr sz="1300" b="0">
                <a:solidFill>
                  <a:srgbClr val="1E293B"/>
                </a:solidFill>
              </a:rPr>
              <a:t>Implemented 8 distinct statistical association metrics from first principles with verified mathematical correctness.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Production Deliverables: </a:t>
            </a:r>
            <a:r>
              <a:rPr sz="1300" b="0">
                <a:solidFill>
                  <a:srgbClr val="1E293B"/>
                </a:solidFill>
              </a:rPr>
              <a:t>Delivered complete repository structure with modular `preprocessing.py`, `models.py`, and orchestrator `pipeline.py`.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Comprehensive Documentation: </a:t>
            </a:r>
            <a:r>
              <a:rPr sz="1300" b="0">
                <a:solidFill>
                  <a:srgbClr val="1E293B"/>
                </a:solidFill>
              </a:rPr>
              <a:t>Authored formal academic PDF reports (`Architecture_and_Methodology.pdf` &amp; `Evaluation_Report.pdf`) with full empirical tables.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Automated Execution Runner: </a:t>
            </a:r>
            <a:r>
              <a:rPr sz="1300" b="0">
                <a:solidFill>
                  <a:srgbClr val="1E293B"/>
                </a:solidFill>
              </a:rPr>
              <a:t>Modular Python pipeline providing reproducible end-to-end collocation extraction from speech transcripts.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Deliverables Check &amp; Repository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103120"/>
            <a:ext cx="475488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Automated Pipeline Execution: </a:t>
            </a:r>
            <a:r>
              <a:rPr sz="1300" b="0">
                <a:solidFill>
                  <a:srgbClr val="1E293B"/>
                </a:solidFill>
              </a:rPr>
              <a:t>Launchable via `python src/pipeline.py` with configurable frequency thresholds and ablation toggles.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Automated Test Suite: </a:t>
            </a:r>
            <a:r>
              <a:rPr sz="1300" b="0">
                <a:solidFill>
                  <a:srgbClr val="1E293B"/>
                </a:solidFill>
              </a:rPr>
              <a:t>8 hand-verified oracle unit tests passing in `tests/test_metrics.py`.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Empirical Reports: </a:t>
            </a:r>
            <a:r>
              <a:rPr sz="1300" b="0">
                <a:solidFill>
                  <a:srgbClr val="1E293B"/>
                </a:solidFill>
              </a:rPr>
              <a:t>Complete CSV/JSON evaluation metrics, precision curves, and heatmaps in `reports/`.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300" b="1">
                <a:solidFill>
                  <a:srgbClr val="2563EB"/>
                </a:solidFill>
              </a:rPr>
              <a:t>• </a:t>
            </a:r>
            <a:r>
              <a:rPr sz="1300" b="1">
                <a:solidFill>
                  <a:srgbClr val="0F172A"/>
                </a:solidFill>
              </a:rPr>
              <a:t>Academic Compliance: </a:t>
            </a:r>
            <a:r>
              <a:rPr sz="1300" b="0">
                <a:solidFill>
                  <a:srgbClr val="1E293B"/>
                </a:solidFill>
              </a:rPr>
              <a:t>100% adherence to MT-AIML Semester 5 deliverable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2488</Words>
  <Application>Microsoft Office PowerPoint</Application>
  <PresentationFormat>Widescreen</PresentationFormat>
  <Paragraphs>173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dev desai</cp:lastModifiedBy>
  <cp:revision>3</cp:revision>
  <dcterms:created xsi:type="dcterms:W3CDTF">2013-01-27T09:14:16Z</dcterms:created>
  <dcterms:modified xsi:type="dcterms:W3CDTF">2026-10-07T17:46:14Z</dcterms:modified>
  <cp:category/>
</cp:coreProperties>
</file>