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t>Primary </a:t>
            </a:r>
            <a:r>
              <a:rPr dirty="0"/>
              <a:t>Work Updates: Collocation Mining &amp; Association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dirty="0"/>
              <a:t>MT-AIML Sem </a:t>
            </a:r>
            <a:r>
              <a:rPr lang="en-IN" dirty="0"/>
              <a:t>7</a:t>
            </a:r>
            <a:r>
              <a:rPr dirty="0"/>
              <a:t>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8235" y="6446520"/>
            <a:ext cx="21159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dirty="0"/>
              <a:t>1 /</a:t>
            </a:r>
            <a:r>
              <a:rPr lang="en-IN" dirty="0"/>
              <a:t> 8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6217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5760720" cy="24827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dirty="0">
                <a:solidFill>
                  <a:srgbClr val="2563EB"/>
                </a:solidFill>
              </a:rPr>
              <a:t>• </a:t>
            </a:r>
            <a:r>
              <a:rPr sz="1600" b="1" dirty="0">
                <a:solidFill>
                  <a:srgbClr val="0F172A"/>
                </a:solidFill>
              </a:rPr>
              <a:t>Problem Statement: </a:t>
            </a:r>
            <a:r>
              <a:rPr sz="1600" b="0" dirty="0">
                <a:solidFill>
                  <a:srgbClr val="1E293B"/>
                </a:solidFill>
              </a:rPr>
              <a:t>Problem 17 — Collocation Mining and Association Scoring in Voice Memos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 dirty="0">
                <a:solidFill>
                  <a:srgbClr val="2563EB"/>
                </a:solidFill>
              </a:rPr>
              <a:t>• </a:t>
            </a:r>
            <a:r>
              <a:rPr sz="1600" b="1" dirty="0">
                <a:solidFill>
                  <a:srgbClr val="0F172A"/>
                </a:solidFill>
              </a:rPr>
              <a:t>Course / Module: </a:t>
            </a:r>
            <a:r>
              <a:rPr sz="1600" b="0" dirty="0">
                <a:solidFill>
                  <a:srgbClr val="1E293B"/>
                </a:solidFill>
              </a:rPr>
              <a:t>MT-AIML, Semester </a:t>
            </a:r>
            <a:r>
              <a:rPr lang="en-IN" sz="1600" b="0" dirty="0">
                <a:solidFill>
                  <a:srgbClr val="1E293B"/>
                </a:solidFill>
              </a:rPr>
              <a:t>7</a:t>
            </a:r>
            <a:r>
              <a:rPr sz="1600" b="0" dirty="0">
                <a:solidFill>
                  <a:srgbClr val="1E293B"/>
                </a:solidFill>
              </a:rPr>
              <a:t> (Honors AIML) </a:t>
            </a:r>
            <a:endParaRPr lang="en-IN" sz="1600" b="0" dirty="0">
              <a:solidFill>
                <a:srgbClr val="1E293B"/>
              </a:solidFill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 dirty="0">
                <a:solidFill>
                  <a:srgbClr val="2563EB"/>
                </a:solidFill>
              </a:rPr>
              <a:t>• </a:t>
            </a:r>
            <a:r>
              <a:rPr sz="1600" b="1" dirty="0">
                <a:solidFill>
                  <a:srgbClr val="0F172A"/>
                </a:solidFill>
              </a:rPr>
              <a:t>Application Scope: </a:t>
            </a:r>
            <a:r>
              <a:rPr sz="1600" b="0" dirty="0">
                <a:solidFill>
                  <a:srgbClr val="1E293B"/>
                </a:solidFill>
              </a:rPr>
              <a:t>Spoken Dictation &amp; Executive Voice Memos Domain Tagging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 dirty="0">
                <a:solidFill>
                  <a:srgbClr val="2563EB"/>
                </a:solidFill>
              </a:rPr>
              <a:t>• </a:t>
            </a:r>
            <a:r>
              <a:rPr sz="1600" b="1" dirty="0">
                <a:solidFill>
                  <a:srgbClr val="0F172A"/>
                </a:solidFill>
              </a:rPr>
              <a:t>Key Technologies: </a:t>
            </a:r>
            <a:r>
              <a:rPr sz="1600" b="0" dirty="0">
                <a:solidFill>
                  <a:srgbClr val="1E293B"/>
                </a:solidFill>
              </a:rPr>
              <a:t>Python 3.12, NumPy, NLTK, SciPy, Matplotlib, Pandas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 dirty="0">
                <a:solidFill>
                  <a:srgbClr val="2563EB"/>
                </a:solidFill>
              </a:rPr>
              <a:t>• </a:t>
            </a:r>
            <a:r>
              <a:rPr sz="1600" b="1" dirty="0">
                <a:solidFill>
                  <a:srgbClr val="0F172A"/>
                </a:solidFill>
              </a:rPr>
              <a:t>Date of Submission: </a:t>
            </a:r>
            <a:r>
              <a:rPr sz="1600" b="0" dirty="0">
                <a:solidFill>
                  <a:srgbClr val="1E293B"/>
                </a:solidFill>
              </a:rPr>
              <a:t>3rd October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463040"/>
            <a:ext cx="42062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73977" y="1737360"/>
            <a:ext cx="3749039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sz="2000" dirty="0"/>
              <a:t>Student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8" y="2034540"/>
            <a:ext cx="3104331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IN" sz="1600" b="1" dirty="0">
                <a:solidFill>
                  <a:srgbClr val="0F172A"/>
                </a:solidFill>
              </a:rPr>
              <a:t>Name</a:t>
            </a:r>
            <a:r>
              <a:rPr sz="1600" b="1" dirty="0">
                <a:solidFill>
                  <a:srgbClr val="0F172A"/>
                </a:solidFill>
              </a:rPr>
              <a:t>:
</a:t>
            </a:r>
            <a:r>
              <a:rPr lang="en-IN" sz="1600" b="1" dirty="0">
                <a:solidFill>
                  <a:srgbClr val="0F172A"/>
                </a:solidFill>
              </a:rPr>
              <a:t>Desai Dev Niraj</a:t>
            </a:r>
            <a:endParaRPr sz="1600" dirty="0">
              <a:solidFill>
                <a:srgbClr val="2563EB"/>
              </a:solidFill>
            </a:endParaRPr>
          </a:p>
          <a:p>
            <a:pPr>
              <a:spcAft>
                <a:spcPts val="400"/>
              </a:spcAft>
            </a:pPr>
            <a:endParaRPr lang="en-IN" sz="1600" b="1" dirty="0">
              <a:solidFill>
                <a:srgbClr val="0F172A"/>
              </a:solidFill>
            </a:endParaRP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</a:rPr>
              <a:t>Enrollment:
</a:t>
            </a:r>
            <a:r>
              <a:rPr lang="en-IN" sz="1600" b="1" dirty="0">
                <a:solidFill>
                  <a:srgbClr val="0F172A"/>
                </a:solidFill>
              </a:rPr>
              <a:t>ET24BTIT811</a:t>
            </a:r>
            <a:endParaRPr sz="1600" dirty="0">
              <a:solidFill>
                <a:srgbClr val="2563EB"/>
              </a:solidFill>
            </a:endParaRPr>
          </a:p>
          <a:p>
            <a:pPr>
              <a:spcAft>
                <a:spcPts val="400"/>
              </a:spcAft>
            </a:pPr>
            <a:endParaRPr lang="en-IN" sz="1600" b="1" dirty="0">
              <a:solidFill>
                <a:srgbClr val="0F172A"/>
              </a:solidFill>
            </a:endParaRP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</a:rPr>
              <a:t>Program:
</a:t>
            </a:r>
            <a:r>
              <a:rPr lang="en-IN" sz="1600" b="1" dirty="0">
                <a:solidFill>
                  <a:srgbClr val="0F172A"/>
                </a:solidFill>
              </a:rPr>
              <a:t>Information Technology</a:t>
            </a:r>
            <a:endParaRPr sz="1600" dirty="0">
              <a:solidFill>
                <a:srgbClr val="2563EB"/>
              </a:solidFill>
            </a:endParaRPr>
          </a:p>
          <a:p>
            <a:pPr>
              <a:spcAft>
                <a:spcPts val="400"/>
              </a:spcAft>
            </a:pPr>
            <a:endParaRPr lang="en-IN" sz="1600" b="1" dirty="0">
              <a:solidFill>
                <a:srgbClr val="0F172A"/>
              </a:solidFill>
            </a:endParaRP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</a:rPr>
              <a:t>Semester:
</a:t>
            </a:r>
            <a:r>
              <a:rPr lang="en-IN" sz="1600" b="1" dirty="0">
                <a:solidFill>
                  <a:srgbClr val="0F172A"/>
                </a:solidFill>
              </a:rPr>
              <a:t>Semester 7</a:t>
            </a:r>
            <a:endParaRPr sz="1600" dirty="0">
              <a:solidFill>
                <a:srgbClr val="2563E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23461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2: PROBLEM EXPLANATION &amp; MOTIVATION</a:t>
            </a:r>
          </a:p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t>Executive Voice Memos &amp; Need for Collocation Mining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IN" dirty="0"/>
              <a:t>MT-AIML Sem 7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8404" y="6446520"/>
            <a:ext cx="21159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dirty="0"/>
              <a:t>2 /</a:t>
            </a:r>
            <a:r>
              <a:rPr lang="en-IN" dirty="0"/>
              <a:t> 8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03701" y="1458971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Business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Executive Dictation: </a:t>
            </a:r>
            <a:r>
              <a:rPr sz="1300" b="0">
                <a:solidFill>
                  <a:srgbClr val="1E293B"/>
                </a:solidFill>
              </a:rPr>
              <a:t>Voice memos and spoken meetings capture high-value tactical decisions, policy directives, and institutional actions.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Automated Tagging Need: </a:t>
            </a:r>
            <a:r>
              <a:rPr sz="1300" b="0">
                <a:solidFill>
                  <a:srgbClr val="1E293B"/>
                </a:solidFill>
              </a:rPr>
              <a:t>Downstream search, archiving, and action-item tracking require extracting cohesive multi-word keyphrases rather than isolated words.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The Multi-Word Challenge: </a:t>
            </a:r>
            <a:r>
              <a:rPr sz="1300" b="0">
                <a:solidFill>
                  <a:srgbClr val="1E293B"/>
                </a:solidFill>
              </a:rPr>
              <a:t>Isolated unigrams like 'housing' or 'council' lose critical semantic intent. True semantic units are multi-word collocations ('affordable housing', 'city council').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Key Objective: </a:t>
            </a:r>
            <a:r>
              <a:rPr sz="1300" b="0">
                <a:solidFill>
                  <a:srgbClr val="1E293B"/>
                </a:solidFill>
              </a:rPr>
              <a:t>Automatically discover conventional domain terms from uncurated audio transcripts while filtering out conversational noise.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7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Spoken Speech Distortions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Acoustic Recognition Noise: </a:t>
            </a:r>
            <a:r>
              <a:rPr sz="1300" b="0">
                <a:solidFill>
                  <a:srgbClr val="1E293B"/>
                </a:solidFill>
              </a:rPr>
              <a:t>Automatic Speech Recognition (ASR) outputs noisy, unpunctuated text with missing capitalization and run-on sentences.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High Conversational Disfluency: </a:t>
            </a:r>
            <a:r>
              <a:rPr sz="1300" b="0">
                <a:solidFill>
                  <a:srgbClr val="1E293B"/>
                </a:solidFill>
              </a:rPr>
              <a:t>Spoken memos abound with fillers ('you know', 'mm hmm', 'i mean') and polite repetition ('thank you', 'as well').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Grammatical Dominance: </a:t>
            </a:r>
            <a:r>
              <a:rPr sz="1300" b="0">
                <a:solidFill>
                  <a:srgbClr val="1E293B"/>
                </a:solidFill>
              </a:rPr>
              <a:t>Frequent syntactic glue ('of the', 'in the', 'to be') vastly outnumbers genuine domain terms in raw frequency.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Core Engineering Task: </a:t>
            </a:r>
            <a:r>
              <a:rPr sz="1300" b="0">
                <a:solidFill>
                  <a:srgbClr val="1E293B"/>
                </a:solidFill>
              </a:rPr>
              <a:t>Design statistical association metrics that reliably separate domain collocations from high-frequency grammatical co-occurrences.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3: PROBLEM UNDERSTANDING</a:t>
            </a:r>
          </a:p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t>Why Raw Frequency Fails: The Mathematical Need for Association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IN" dirty="0"/>
              <a:t>MT-AIML Sem 7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8404" y="6446520"/>
            <a:ext cx="21159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dirty="0"/>
              <a:t>3 /</a:t>
            </a:r>
            <a:r>
              <a:rPr lang="en-IN" dirty="0"/>
              <a:t> 8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Frequency Illusion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30175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High Joint Count ≠ Term: </a:t>
            </a:r>
            <a:r>
              <a:rPr sz="1300" b="0">
                <a:solidFill>
                  <a:srgbClr val="1E293B"/>
                </a:solidFill>
              </a:rPr>
              <a:t>'of the' appears 396 times; 'city council' appears 40 times. Raw frequency ranks function words highest.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Syntactic Accidents: </a:t>
            </a:r>
            <a:r>
              <a:rPr sz="1300" b="0">
                <a:solidFill>
                  <a:srgbClr val="1E293B"/>
                </a:solidFill>
              </a:rPr>
              <a:t>Words frequently appear adjacent solely because of English grammatical syntax, not topical cohesion.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Information Loss: </a:t>
            </a:r>
            <a:r>
              <a:rPr sz="1300" b="0">
                <a:solidFill>
                  <a:srgbClr val="1E293B"/>
                </a:solidFill>
              </a:rPr>
              <a:t>Thresholding on raw counts drowns out specialized low-frequency terms like 'dry ice' or 'boot camp'.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Statistical Cohesion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30175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Hypothesis of Independence: </a:t>
            </a:r>
            <a:r>
              <a:rPr sz="1300" b="0">
                <a:solidFill>
                  <a:srgbClr val="1E293B"/>
                </a:solidFill>
              </a:rPr>
              <a:t>Compare observed co-occurrence O_11 against expected co-occurrence E_11 if words were randomly combined.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Non-Random Association: </a:t>
            </a:r>
            <a:r>
              <a:rPr sz="1300" b="0">
                <a:solidFill>
                  <a:srgbClr val="1E293B"/>
                </a:solidFill>
              </a:rPr>
              <a:t>A true collocation exhibits strong statistical attraction: P(w1, w2) &gt;&gt; P(w1) * P(w2).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Contingency Modeling: </a:t>
            </a:r>
            <a:r>
              <a:rPr sz="1300" b="0">
                <a:solidFill>
                  <a:srgbClr val="1E293B"/>
                </a:solidFill>
              </a:rPr>
              <a:t>Full 2x2 contingency table captures joint occurrences, partial co-occurrences, and total corpus size 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6459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Four Required Paradigms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PMI / NPMI: </a:t>
            </a:r>
            <a:r>
              <a:rPr sz="1300" b="0">
                <a:solidFill>
                  <a:srgbClr val="1E293B"/>
                </a:solidFill>
              </a:rPr>
              <a:t>Information-theoretic ratio of joint probability to independent marginal probabilities.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Pearson &amp; Yates χ²: </a:t>
            </a:r>
            <a:r>
              <a:rPr sz="1300" b="0">
                <a:solidFill>
                  <a:srgbClr val="1E293B"/>
                </a:solidFill>
              </a:rPr>
              <a:t>Non-directional test measuring deviation from the independence contingency table.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Student's t-test: </a:t>
            </a:r>
            <a:r>
              <a:rPr sz="1300" b="0">
                <a:solidFill>
                  <a:srgbClr val="1E293B"/>
                </a:solidFill>
              </a:rPr>
              <a:t>Hypothesis test assessing if observed mean difference is statistically significant.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Likelihood Ratio (G²): </a:t>
            </a:r>
            <a:r>
              <a:rPr sz="1300" b="0">
                <a:solidFill>
                  <a:srgbClr val="1E293B"/>
                </a:solidFill>
              </a:rPr>
              <a:t>Dunning's ratio test; robust on sparse distributions typical of spoken corpora.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4: PROBLEM COMPLEXITY</a:t>
            </a:r>
          </a:p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t>Pre-processing Nuances &amp; Spoken Language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IN" dirty="0"/>
              <a:t>MT-AIML Sem 7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8403" y="6446520"/>
            <a:ext cx="211597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dirty="0"/>
              <a:t>4 /</a:t>
            </a:r>
            <a:r>
              <a:rPr lang="en-IN" dirty="0"/>
              <a:t> 8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Stopword Removal Dilemma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Naïve Stopword Stripping: </a:t>
            </a:r>
            <a:r>
              <a:rPr sz="1300" b="0">
                <a:solidFill>
                  <a:srgbClr val="1E293B"/>
                </a:solidFill>
              </a:rPr>
              <a:t>Removing stopwords destroys real institutional formulas: 'in terms of', 'motion to approve', 'point of order'.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Contingency Distortion: </a:t>
            </a:r>
            <a:r>
              <a:rPr sz="1300" b="0">
                <a:solidFill>
                  <a:srgbClr val="1E293B"/>
                </a:solidFill>
              </a:rPr>
              <a:t>Deleting tokens alters corpus size N and marginal counts, corrupting probability denominators.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Recommended Architecture: </a:t>
            </a:r>
            <a:r>
              <a:rPr sz="1300" b="0">
                <a:solidFill>
                  <a:srgbClr val="1E293B"/>
                </a:solidFill>
              </a:rPr>
              <a:t>Retain stopwords on the primary extraction path; let association metrics penalize grammatical combinations naturally.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Controlled Ablation: </a:t>
            </a:r>
            <a:r>
              <a:rPr sz="1300" b="0">
                <a:solidFill>
                  <a:srgbClr val="1E293B"/>
                </a:solidFill>
              </a:rPr>
              <a:t>Implement an explicit toggle to quantify exact phrase yield differences with and without function words.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Morphological &amp; Boundary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Case Inconsistency: </a:t>
            </a:r>
            <a:r>
              <a:rPr sz="1300" b="0">
                <a:solidFill>
                  <a:srgbClr val="1E293B"/>
                </a:solidFill>
              </a:rPr>
              <a:t>Speech recognition mixes casing ('Council' vs 'council'). Aggressive normalization is necessary to prevent count splits.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Contraction Normalization: </a:t>
            </a:r>
            <a:r>
              <a:rPr sz="1300" b="0">
                <a:solidFill>
                  <a:srgbClr val="1E293B"/>
                </a:solidFill>
              </a:rPr>
              <a:t>Clitic expansions ('don't' -&gt; 'do not', 'we're' -&gt; 'we are') standardize syntactic representation.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POS-Aware Lemmatization: </a:t>
            </a:r>
            <a:r>
              <a:rPr sz="1300" b="0">
                <a:solidFill>
                  <a:srgbClr val="1E293B"/>
                </a:solidFill>
              </a:rPr>
              <a:t>Lemmatize inflections ('housing plans' -&gt; 'housing plan') using WordNet while preventing cross-POS over-merging.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Sentence Boundaries: </a:t>
            </a:r>
            <a:r>
              <a:rPr sz="1300" b="0">
                <a:solidFill>
                  <a:srgbClr val="1E293B"/>
                </a:solidFill>
              </a:rPr>
              <a:t>N-grams must never cross sentence boundaries; boundary tokens must not inflate co-occurrence 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5: SCOPE OF SOLUTION</a:t>
            </a:r>
          </a:p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t>Functional Boundaries, Deliverables &amp; Preprocessing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IN" dirty="0"/>
              <a:t>MT-AIML Sem 7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8572" y="6446520"/>
            <a:ext cx="21159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dirty="0"/>
              <a:t>5 /</a:t>
            </a:r>
            <a:r>
              <a:rPr lang="en-IN" dirty="0"/>
              <a:t> 8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449139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In-Scope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Multi-Metric Engine: </a:t>
            </a:r>
            <a:r>
              <a:rPr sz="1300" b="0">
                <a:solidFill>
                  <a:srgbClr val="1E293B"/>
                </a:solidFill>
              </a:rPr>
              <a:t>Full scratch mathematical implementation of PMI, NPMI, PMI^2, PMI^3, Pearson χ², Yates χ², Student's t, and Likelihood Ratio.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N-gram Coverage: </a:t>
            </a:r>
            <a:r>
              <a:rPr sz="1300" b="0">
                <a:solidFill>
                  <a:srgbClr val="1E293B"/>
                </a:solidFill>
              </a:rPr>
              <a:t>Comprehensive extraction for Bigrams and Trigrams across sentence-internal token streams.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Benchmark Corpus: </a:t>
            </a:r>
            <a:r>
              <a:rPr sz="1300" b="0">
                <a:solidFill>
                  <a:srgbClr val="1E293B"/>
                </a:solidFill>
              </a:rPr>
              <a:t>Standardized transcription corpus (MeetingBank ACL 2023: 28 agenda segments, 67,046 processed tokens).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Validation &amp; Testing: </a:t>
            </a:r>
            <a:r>
              <a:rPr sz="1300" b="0">
                <a:solidFill>
                  <a:srgbClr val="1E293B"/>
                </a:solidFill>
              </a:rPr>
              <a:t>Side-by-side verification against NLTK Collocation Finders and SciPy statistical modules.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Automated Benchmark Suite: </a:t>
            </a:r>
            <a:r>
              <a:rPr sz="1300" b="0">
                <a:solidFill>
                  <a:srgbClr val="1E293B"/>
                </a:solidFill>
              </a:rPr>
              <a:t>End-to-end evaluation pipeline supporting threshold tuning, ablation studies, and CSV export.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Out-of-Scope &amp; Intentional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Raw Acoustic Signal Processing: </a:t>
            </a:r>
            <a:r>
              <a:rPr sz="1300" b="0">
                <a:solidFill>
                  <a:srgbClr val="1E293B"/>
                </a:solidFill>
              </a:rPr>
              <a:t>Excludes raw audio WAV decoding, acoustic phoneme alignment, or diarization (focuses on text transcripts).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High-Order N-grams (N ≥ 4): </a:t>
            </a:r>
            <a:r>
              <a:rPr sz="1300" b="0">
                <a:solidFill>
                  <a:srgbClr val="1E293B"/>
                </a:solidFill>
              </a:rPr>
              <a:t>Restricted to bigrams and trigrams to avoid exponential sparsity and combinatorial explosion.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Supervised Machine Learning: </a:t>
            </a:r>
            <a:r>
              <a:rPr sz="1300" b="0">
                <a:solidFill>
                  <a:srgbClr val="1E293B"/>
                </a:solidFill>
              </a:rPr>
              <a:t>Purely unsupervised statistical collocation mining; does not require GPU training or labeled weights.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Cross-Turn Windowing: </a:t>
            </a:r>
            <a:r>
              <a:rPr sz="1300" b="0">
                <a:solidFill>
                  <a:srgbClr val="1E293B"/>
                </a:solidFill>
              </a:rPr>
              <a:t>Candidate windowing does not cross speaker turns or sentence boundaries to preserve syntactic validity.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6: EXISTING SOLUTIONS</a:t>
            </a:r>
          </a:p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t>Academic Literature &amp; Classical Collocation Paradigms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IN" dirty="0"/>
              <a:t>MT-AIML Sem 7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8404" y="6446520"/>
            <a:ext cx="21159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dirty="0"/>
              <a:t>6 / </a:t>
            </a:r>
            <a:r>
              <a:rPr lang="en-IN" dirty="0"/>
              <a:t>8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Seminal Academic Milestones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Church &amp; Hanks (1990): </a:t>
            </a:r>
            <a:r>
              <a:rPr sz="1300" b="0">
                <a:solidFill>
                  <a:srgbClr val="1E293B"/>
                </a:solidFill>
              </a:rPr>
              <a:t>Pioneered Pointwise Mutual Information (PMI) for lexicography. Demonstrated sensitivity to low-frequency rare terms.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Dunning (1993): </a:t>
            </a:r>
            <a:r>
              <a:rPr sz="1300" b="0">
                <a:solidFill>
                  <a:srgbClr val="1E293B"/>
                </a:solidFill>
              </a:rPr>
              <a:t>'Accurate Methods for the Statistics of Surprise and Coincidence.' Established Log-Likelihood Ratio (G²) as superior for sparse NLP text.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Manning &amp; Schütze (1999): </a:t>
            </a:r>
            <a:r>
              <a:rPr sz="1300" b="0">
                <a:solidFill>
                  <a:srgbClr val="1E293B"/>
                </a:solidFill>
              </a:rPr>
              <a:t>Formalized the Student's t-test formulation (Eq 5.10) for collocation discovery in large corpora.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Bouma (2009): </a:t>
            </a:r>
            <a:r>
              <a:rPr sz="1300" b="0">
                <a:solidFill>
                  <a:srgbClr val="1E293B"/>
                </a:solidFill>
              </a:rPr>
              <a:t>Introduced Normalized PMI (NPMI) to bound PMI values to [-1, 1], mitigating frequency sensitivity.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7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Standard Library Implementations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NLTK Collocations Toolkit: </a:t>
            </a:r>
            <a:r>
              <a:rPr sz="1300" b="0">
                <a:solidFill>
                  <a:srgbClr val="1E293B"/>
                </a:solidFill>
              </a:rPr>
              <a:t>`BigramCollocationFinder` &amp; `TrigramCollocationFinder` implement standard association measures.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Library Discrepancies: </a:t>
            </a:r>
            <a:r>
              <a:rPr sz="1300" b="0">
                <a:solidFill>
                  <a:srgbClr val="1E293B"/>
                </a:solidFill>
              </a:rPr>
              <a:t>NLTK uses unigram token count for N rather than sentence-internal bigram tokens, introducing boundary shifts.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Black-Box Opacity: </a:t>
            </a:r>
            <a:r>
              <a:rPr sz="1300" b="0">
                <a:solidFill>
                  <a:srgbClr val="1E293B"/>
                </a:solidFill>
              </a:rPr>
              <a:t>Standard libraries obscure the exact 2x2 contingency table, limiting inspection of low-count cells.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Project Positioning: </a:t>
            </a:r>
            <a:r>
              <a:rPr sz="1300" b="0">
                <a:solidFill>
                  <a:srgbClr val="1E293B"/>
                </a:solidFill>
              </a:rPr>
              <a:t>Our solution writes verified from-scratch implementations, cross-benchmarking against NLTK to audit precision.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30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rPr dirty="0"/>
              <a:t>SLIDE </a:t>
            </a:r>
            <a:r>
              <a:rPr lang="en-IN" dirty="0"/>
              <a:t>7</a:t>
            </a:r>
            <a:r>
              <a:rPr dirty="0"/>
              <a:t>: PROPOSED SYSTEM ARCHITECTURE</a:t>
            </a:r>
          </a:p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rPr dirty="0"/>
              <a:t>End-to-End System Pipeline &amp; Computational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IN" dirty="0"/>
              <a:t>MT-AIML Sem 7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8572" y="6446520"/>
            <a:ext cx="21159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lang="en-IN" dirty="0"/>
              <a:t>7 </a:t>
            </a:r>
            <a:r>
              <a:rPr dirty="0"/>
              <a:t>/ </a:t>
            </a:r>
            <a:r>
              <a:rPr lang="en-IN" dirty="0"/>
              <a:t>8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Architectural Pipeline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Layer 1: Preprocessing: </a:t>
            </a:r>
            <a:r>
              <a:rPr sz="1300" b="0">
                <a:solidFill>
                  <a:srgbClr val="1E293B"/>
                </a:solidFill>
              </a:rPr>
              <a:t>Text cleaning, clitic expansion ('we're' -&gt; 'we are'), sentence segmentation, and POS lemmatization.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Layer 2: Token Indexing: </a:t>
            </a:r>
            <a:r>
              <a:rPr sz="1300" b="0">
                <a:solidFill>
                  <a:srgbClr val="1E293B"/>
                </a:solidFill>
              </a:rPr>
              <a:t>Build sentence-internal unigram, bigram, and trigram token frequency distributions and marginals.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Layer 3: Contingency Tables: </a:t>
            </a:r>
            <a:r>
              <a:rPr sz="1300" b="0">
                <a:solidFill>
                  <a:srgbClr val="1E293B"/>
                </a:solidFill>
              </a:rPr>
              <a:t>Compute 2x2 contingency tables (O11, O12, O21, O22) summing strictly to sentence-internal token count 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Layer 4: Association Scoring: </a:t>
            </a:r>
            <a:r>
              <a:rPr sz="1300" b="0">
                <a:solidFill>
                  <a:srgbClr val="1E293B"/>
                </a:solidFill>
              </a:rPr>
              <a:t>Vectorized evaluation across 8 association measures (PMI, NPMI, Pearson χ², Yates χ², Student's t, G²).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Layer 5: Verification &amp; Audit: </a:t>
            </a:r>
            <a:r>
              <a:rPr sz="1300" b="0">
                <a:solidFill>
                  <a:srgbClr val="1E293B"/>
                </a:solidFill>
              </a:rPr>
              <a:t>Benchmarking against NLTK CollocationFinders and generation of reproducible evaluation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19800" y="1470906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Pipeline Architecture Flowchart</a:t>
            </a:r>
          </a:p>
        </p:txBody>
      </p:sp>
      <p:pic>
        <p:nvPicPr>
          <p:cNvPr id="12" name="Picture 1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94560"/>
            <a:ext cx="4846320" cy="31154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309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rPr dirty="0"/>
              <a:t>SLIDE </a:t>
            </a:r>
            <a:r>
              <a:rPr lang="en-IN" dirty="0"/>
              <a:t>8</a:t>
            </a:r>
            <a:r>
              <a:rPr dirty="0"/>
              <a:t>: WORK PLAN &amp; ROADMAP</a:t>
            </a:r>
          </a:p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rPr dirty="0"/>
              <a:t>Milestone Progress, Evaluation Criteria &amp; Final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51928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IN" dirty="0"/>
              <a:t>MT-AIML Sem 7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8572" y="6446520"/>
            <a:ext cx="21159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rPr lang="en-IN" dirty="0"/>
              <a:t>8 </a:t>
            </a:r>
            <a:r>
              <a:rPr dirty="0"/>
              <a:t>/ </a:t>
            </a:r>
            <a:r>
              <a:rPr lang="en-IN" dirty="0"/>
              <a:t>8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013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dirty="0"/>
              <a:t>Phase 1: Completed Milestones (By 3rd Oct)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43875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dirty="0">
                <a:solidFill>
                  <a:srgbClr val="2563EB"/>
                </a:solidFill>
              </a:rPr>
              <a:t>• </a:t>
            </a:r>
            <a:r>
              <a:rPr sz="1300" b="1" dirty="0">
                <a:solidFill>
                  <a:srgbClr val="0F172A"/>
                </a:solidFill>
              </a:rPr>
              <a:t>Corpus Acquisition: </a:t>
            </a:r>
            <a:r>
              <a:rPr sz="1300" b="0" dirty="0">
                <a:solidFill>
                  <a:srgbClr val="1E293B"/>
                </a:solidFill>
              </a:rPr>
              <a:t>Curated 28 </a:t>
            </a:r>
            <a:r>
              <a:rPr sz="1300" b="0" dirty="0" err="1">
                <a:solidFill>
                  <a:srgbClr val="1E293B"/>
                </a:solidFill>
              </a:rPr>
              <a:t>MeetingBank</a:t>
            </a:r>
            <a:r>
              <a:rPr sz="1300" b="0" dirty="0">
                <a:solidFill>
                  <a:srgbClr val="1E293B"/>
                </a:solidFill>
              </a:rPr>
              <a:t> test-split agenda transcripts (67k words) and generated SHA-256 provenance manifest.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 dirty="0">
                <a:solidFill>
                  <a:srgbClr val="2563EB"/>
                </a:solidFill>
              </a:rPr>
              <a:t>• </a:t>
            </a:r>
            <a:r>
              <a:rPr sz="1300" b="1" dirty="0">
                <a:solidFill>
                  <a:srgbClr val="0F172A"/>
                </a:solidFill>
              </a:rPr>
              <a:t>Preprocessing Engine: </a:t>
            </a:r>
            <a:r>
              <a:rPr sz="1300" b="0" dirty="0">
                <a:solidFill>
                  <a:srgbClr val="1E293B"/>
                </a:solidFill>
              </a:rPr>
              <a:t>Implemented `preprocessing.py` with contraction mapping and POS-aware lemmatization.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 dirty="0">
                <a:solidFill>
                  <a:srgbClr val="2563EB"/>
                </a:solidFill>
              </a:rPr>
              <a:t>• </a:t>
            </a:r>
            <a:r>
              <a:rPr sz="1300" b="1" dirty="0">
                <a:solidFill>
                  <a:srgbClr val="0F172A"/>
                </a:solidFill>
              </a:rPr>
              <a:t>Mathematical Models: </a:t>
            </a:r>
            <a:r>
              <a:rPr sz="1300" b="0" dirty="0">
                <a:solidFill>
                  <a:srgbClr val="1E293B"/>
                </a:solidFill>
              </a:rPr>
              <a:t>Authored `models.py` with from-scratch formulations for PMI, χ², t-test, and Likelihood Ratio.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 dirty="0">
                <a:solidFill>
                  <a:srgbClr val="2563EB"/>
                </a:solidFill>
              </a:rPr>
              <a:t>• </a:t>
            </a:r>
            <a:r>
              <a:rPr sz="1300" b="1" dirty="0">
                <a:solidFill>
                  <a:srgbClr val="0F172A"/>
                </a:solidFill>
              </a:rPr>
              <a:t>Unit Testing Suite: </a:t>
            </a:r>
            <a:r>
              <a:rPr sz="1300" b="0" dirty="0">
                <a:solidFill>
                  <a:srgbClr val="1E293B"/>
                </a:solidFill>
              </a:rPr>
              <a:t>Created `test_metrics.py` with hand-calculated oracle tables confirming exact formula precision.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 dirty="0">
                <a:solidFill>
                  <a:srgbClr val="2563EB"/>
                </a:solidFill>
              </a:rPr>
              <a:t>• </a:t>
            </a:r>
            <a:r>
              <a:rPr sz="1300" b="1" dirty="0">
                <a:solidFill>
                  <a:srgbClr val="0F172A"/>
                </a:solidFill>
              </a:rPr>
              <a:t>Execution Pipeline: </a:t>
            </a:r>
            <a:r>
              <a:rPr sz="1300" b="0" dirty="0">
                <a:solidFill>
                  <a:srgbClr val="1E293B"/>
                </a:solidFill>
              </a:rPr>
              <a:t>Constructed initial end-to-end processing pipeline (`</a:t>
            </a:r>
            <a:r>
              <a:rPr sz="1300" b="0" dirty="0" err="1">
                <a:solidFill>
                  <a:srgbClr val="1E293B"/>
                </a:solidFill>
              </a:rPr>
              <a:t>src</a:t>
            </a:r>
            <a:r>
              <a:rPr sz="1300" b="0" dirty="0">
                <a:solidFill>
                  <a:srgbClr val="1E293B"/>
                </a:solidFill>
              </a:rPr>
              <a:t>/pipeline.py`) with configurable thresholds.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568440" y="1669517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dirty="0"/>
              <a:t>Phase 2: Final Submission Plan (By 7th Oct)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 dirty="0">
                <a:solidFill>
                  <a:srgbClr val="2563EB"/>
                </a:solidFill>
              </a:rPr>
              <a:t>• </a:t>
            </a:r>
            <a:r>
              <a:rPr sz="1300" b="1" dirty="0">
                <a:solidFill>
                  <a:srgbClr val="0F172A"/>
                </a:solidFill>
              </a:rPr>
              <a:t>Benchmark Evaluation: </a:t>
            </a:r>
            <a:r>
              <a:rPr sz="1300" b="0" dirty="0">
                <a:solidFill>
                  <a:srgbClr val="1E293B"/>
                </a:solidFill>
              </a:rPr>
              <a:t>Run end-to-end evaluation pipeline against 144 curated gold collocations.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 dirty="0">
                <a:solidFill>
                  <a:srgbClr val="2563EB"/>
                </a:solidFill>
              </a:rPr>
              <a:t>• </a:t>
            </a:r>
            <a:r>
              <a:rPr sz="1300" b="1" dirty="0">
                <a:solidFill>
                  <a:srgbClr val="0F172A"/>
                </a:solidFill>
              </a:rPr>
              <a:t>Comparative Analysis: </a:t>
            </a:r>
            <a:r>
              <a:rPr sz="1300" b="0" dirty="0">
                <a:solidFill>
                  <a:srgbClr val="1E293B"/>
                </a:solidFill>
              </a:rPr>
              <a:t>Generate Spearman rank correlation matrix and </a:t>
            </a:r>
            <a:r>
              <a:rPr sz="1300" b="0" dirty="0" err="1">
                <a:solidFill>
                  <a:srgbClr val="1E293B"/>
                </a:solidFill>
              </a:rPr>
              <a:t>Precision@k</a:t>
            </a:r>
            <a:r>
              <a:rPr sz="1300" b="0" dirty="0">
                <a:solidFill>
                  <a:srgbClr val="1E293B"/>
                </a:solidFill>
              </a:rPr>
              <a:t> evaluation curves.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 dirty="0">
                <a:solidFill>
                  <a:srgbClr val="2563EB"/>
                </a:solidFill>
              </a:rPr>
              <a:t>• </a:t>
            </a:r>
            <a:r>
              <a:rPr sz="1300" b="1" dirty="0">
                <a:solidFill>
                  <a:srgbClr val="0F172A"/>
                </a:solidFill>
              </a:rPr>
              <a:t>Failure Analysis Report: </a:t>
            </a:r>
            <a:r>
              <a:rPr sz="1300" b="0" dirty="0">
                <a:solidFill>
                  <a:srgbClr val="1E293B"/>
                </a:solidFill>
              </a:rPr>
              <a:t>Document linguistic edge cases, frequency saturation, and lemmatization artifacts.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 dirty="0">
                <a:solidFill>
                  <a:srgbClr val="2563EB"/>
                </a:solidFill>
              </a:rPr>
              <a:t>• </a:t>
            </a:r>
            <a:r>
              <a:rPr sz="1300" b="1" dirty="0">
                <a:solidFill>
                  <a:srgbClr val="0F172A"/>
                </a:solidFill>
              </a:rPr>
              <a:t>Publication Artifacts: </a:t>
            </a:r>
            <a:r>
              <a:rPr sz="1300" b="0" dirty="0">
                <a:solidFill>
                  <a:srgbClr val="1E293B"/>
                </a:solidFill>
              </a:rPr>
              <a:t>Compile official academic PDF reports (`Architecture_and_Methodology.pdf` &amp; `Evaluation_Report.pdf`).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 dirty="0">
                <a:solidFill>
                  <a:srgbClr val="2563EB"/>
                </a:solidFill>
              </a:rPr>
              <a:t>• </a:t>
            </a:r>
            <a:r>
              <a:rPr sz="1300" b="1" dirty="0">
                <a:solidFill>
                  <a:srgbClr val="0F172A"/>
                </a:solidFill>
              </a:rPr>
              <a:t>Final Defense Deck: </a:t>
            </a:r>
            <a:r>
              <a:rPr sz="1300" b="0" dirty="0">
                <a:solidFill>
                  <a:srgbClr val="1E293B"/>
                </a:solidFill>
              </a:rPr>
              <a:t>Finalize 13-slide demonstration deck and executable submission archive.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1584</Words>
  <Application>Microsoft Office PowerPoint</Application>
  <PresentationFormat>Widescreen</PresentationFormat>
  <Paragraphs>117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 desai</cp:lastModifiedBy>
  <cp:revision>6</cp:revision>
  <dcterms:created xsi:type="dcterms:W3CDTF">2013-01-27T09:14:16Z</dcterms:created>
  <dcterms:modified xsi:type="dcterms:W3CDTF">2026-10-07T17:46:16Z</dcterms:modified>
  <cp:category/>
</cp:coreProperties>
</file>